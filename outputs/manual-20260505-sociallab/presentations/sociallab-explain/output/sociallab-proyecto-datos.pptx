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95120bdb34131" /><Relationship Type="http://schemas.openxmlformats.org/officeDocument/2006/relationships/extended-properties" Target="/docProps/app.xml" Id="R66ff691b16714fb9" /><Relationship Type="http://schemas.openxmlformats.org/officeDocument/2006/relationships/officeDocument" Target="/ppt/presentation.xml" Id="Rff0c2a31b06147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1700a5aab4089"/>
  </p:sldMasterIdLst>
  <p:notesMasterIdLst>
    <p:notesMasterId xmlns:r="http://schemas.openxmlformats.org/officeDocument/2006/relationships" r:id="R0a68c90092494dab"/>
  </p:notesMasterIdLst>
  <p:sldIdLst>
    <p:sldId xmlns:r="http://schemas.openxmlformats.org/officeDocument/2006/relationships" id="256" r:id="Rb41943c83bb044ea"/>
    <p:sldId xmlns:r="http://schemas.openxmlformats.org/officeDocument/2006/relationships" id="257" r:id="R5bd56555148243d3"/>
    <p:sldId xmlns:r="http://schemas.openxmlformats.org/officeDocument/2006/relationships" id="258" r:id="R01f8469a974a440b"/>
    <p:sldId xmlns:r="http://schemas.openxmlformats.org/officeDocument/2006/relationships" id="259" r:id="R021f75d0ebfd470d"/>
    <p:sldId xmlns:r="http://schemas.openxmlformats.org/officeDocument/2006/relationships" id="260" r:id="Ref6b05056cf1457d"/>
    <p:sldId xmlns:r="http://schemas.openxmlformats.org/officeDocument/2006/relationships" id="261" r:id="Rbaada31544474f7c"/>
    <p:sldId xmlns:r="http://schemas.openxmlformats.org/officeDocument/2006/relationships" id="262" r:id="R73a7f74988bf4217"/>
    <p:sldId xmlns:r="http://schemas.openxmlformats.org/officeDocument/2006/relationships" id="263" r:id="Ra8b03f14979a420d"/>
    <p:sldId xmlns:r="http://schemas.openxmlformats.org/officeDocument/2006/relationships" id="264" r:id="R64ab77b65a7d4138"/>
    <p:sldId xmlns:r="http://schemas.openxmlformats.org/officeDocument/2006/relationships" id="265" r:id="R4c685ba584f448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1700a5aab4089" /><Relationship Type="http://schemas.openxmlformats.org/officeDocument/2006/relationships/theme" Target="/ppt/theme/theme1.xml" Id="R48865751ddd446c9" /><Relationship Type="http://schemas.openxmlformats.org/officeDocument/2006/relationships/notesMaster" Target="/ppt/notesMasters/notesMaster1.xml" Id="R0a68c90092494dab" /><Relationship Type="http://schemas.openxmlformats.org/officeDocument/2006/relationships/presProps" Target="/ppt/presProps.xml" Id="Rd53c298535f84e4d" /><Relationship Type="http://schemas.openxmlformats.org/officeDocument/2006/relationships/viewProps" Target="/ppt/viewProps.xml" Id="R2529176375314d51" /><Relationship Type="http://schemas.openxmlformats.org/officeDocument/2006/relationships/tableStyles" Target="/ppt/tableStyles.xml" Id="R149809780f5c4e01" /><Relationship Type="http://schemas.openxmlformats.org/officeDocument/2006/relationships/slide" Target="/ppt/slides/slide1.xml" Id="Rb41943c83bb044ea" /><Relationship Type="http://schemas.openxmlformats.org/officeDocument/2006/relationships/slide" Target="/ppt/slides/slide2.xml" Id="R5bd56555148243d3" /><Relationship Type="http://schemas.openxmlformats.org/officeDocument/2006/relationships/slide" Target="/ppt/slides/slide3.xml" Id="R01f8469a974a440b" /><Relationship Type="http://schemas.openxmlformats.org/officeDocument/2006/relationships/slide" Target="/ppt/slides/slide4.xml" Id="R021f75d0ebfd470d" /><Relationship Type="http://schemas.openxmlformats.org/officeDocument/2006/relationships/slide" Target="/ppt/slides/slide5.xml" Id="Ref6b05056cf1457d" /><Relationship Type="http://schemas.openxmlformats.org/officeDocument/2006/relationships/slide" Target="/ppt/slides/slide6.xml" Id="Rbaada31544474f7c" /><Relationship Type="http://schemas.openxmlformats.org/officeDocument/2006/relationships/slide" Target="/ppt/slides/slide7.xml" Id="R73a7f74988bf4217" /><Relationship Type="http://schemas.openxmlformats.org/officeDocument/2006/relationships/slide" Target="/ppt/slides/slide8.xml" Id="Ra8b03f14979a420d" /><Relationship Type="http://schemas.openxmlformats.org/officeDocument/2006/relationships/slide" Target="/ppt/slides/slide9.xml" Id="R64ab77b65a7d4138" /><Relationship Type="http://schemas.openxmlformats.org/officeDocument/2006/relationships/slide" Target="/ppt/slides/slide10.xml" Id="R4c685ba584f448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b044e8197f949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03214449b4d75" /><Relationship Type="http://schemas.openxmlformats.org/officeDocument/2006/relationships/notesMaster" Target="/ppt/notesMasters/notesMaster1.xml" Id="R8747194f4eab48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54d9bcfd646d5" /><Relationship Type="http://schemas.openxmlformats.org/officeDocument/2006/relationships/notesMaster" Target="/ppt/notesMasters/notesMaster1.xml" Id="Rd90716ff3e4c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dff6dd8e14dad" /><Relationship Type="http://schemas.openxmlformats.org/officeDocument/2006/relationships/notesMaster" Target="/ppt/notesMasters/notesMaster1.xml" Id="Rfdb0564d78fe45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7f8b0de95487d" /><Relationship Type="http://schemas.openxmlformats.org/officeDocument/2006/relationships/notesMaster" Target="/ppt/notesMasters/notesMaster1.xml" Id="R76bc589118604a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49a2fde92b478f" /><Relationship Type="http://schemas.openxmlformats.org/officeDocument/2006/relationships/notesMaster" Target="/ppt/notesMasters/notesMaster1.xml" Id="Raa4f6ac5ae38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8bf64f40e43e4" /><Relationship Type="http://schemas.openxmlformats.org/officeDocument/2006/relationships/notesMaster" Target="/ppt/notesMasters/notesMaster1.xml" Id="R8a6cc8ced6ae46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b14225baf14b19" /><Relationship Type="http://schemas.openxmlformats.org/officeDocument/2006/relationships/notesMaster" Target="/ppt/notesMasters/notesMaster1.xml" Id="R9bf6c8a55e4744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f6aa45c0b4a68" /><Relationship Type="http://schemas.openxmlformats.org/officeDocument/2006/relationships/notesMaster" Target="/ppt/notesMasters/notesMaster1.xml" Id="Rc390c01dbe304f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83692e434c48d5" /><Relationship Type="http://schemas.openxmlformats.org/officeDocument/2006/relationships/notesMaster" Target="/ppt/notesMasters/notesMaster1.xml" Id="R463886a4471e41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721d2134a4f74" /><Relationship Type="http://schemas.openxmlformats.org/officeDocument/2006/relationships/notesMaster" Target="/ppt/notesMasters/notesMaster1.xml" Id="R34a4913ddd25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7b797c7044c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2c2bec02fd4a0b" /><Relationship Type="http://schemas.openxmlformats.org/officeDocument/2006/relationships/slideLayout" Target="/ppt/slideLayouts/slideLayout2.xml" Id="R7aa372d7d74a42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372d7d74a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b5fd40cc243bb" /><Relationship Type="http://schemas.openxmlformats.org/officeDocument/2006/relationships/notesSlide" Target="/ppt/notesSlides/notesSlide1.xml" Id="R88303d6f39f14a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81ebf45444dd3" /><Relationship Type="http://schemas.openxmlformats.org/officeDocument/2006/relationships/notesSlide" Target="/ppt/notesSlides/notesSlide2.xml" Id="Rae3db80fef75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72a02bb6945a0" /><Relationship Type="http://schemas.openxmlformats.org/officeDocument/2006/relationships/notesSlide" Target="/ppt/notesSlides/notesSlide3.xml" Id="R8f1771f5133c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b5f1b3903b49c9" /><Relationship Type="http://schemas.openxmlformats.org/officeDocument/2006/relationships/notesSlide" Target="/ppt/notesSlides/notesSlide4.xml" Id="Rc2d562561838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f2ac93a56848c2" /><Relationship Type="http://schemas.openxmlformats.org/officeDocument/2006/relationships/notesSlide" Target="/ppt/notesSlides/notesSlide5.xml" Id="R8180f2a73da444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011939b8c41e4" /><Relationship Type="http://schemas.openxmlformats.org/officeDocument/2006/relationships/notesSlide" Target="/ppt/notesSlides/notesSlide6.xml" Id="Rd37e5456382845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1171af28c04a60" /><Relationship Type="http://schemas.openxmlformats.org/officeDocument/2006/relationships/notesSlide" Target="/ppt/notesSlides/notesSlide7.xml" Id="R4d028ebff068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119aea5784511" /><Relationship Type="http://schemas.openxmlformats.org/officeDocument/2006/relationships/notesSlide" Target="/ppt/notesSlides/notesSlide8.xml" Id="Radeaa9ddaf924d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aa66dd3ccd49a7" /><Relationship Type="http://schemas.openxmlformats.org/officeDocument/2006/relationships/notesSlide" Target="/ppt/notesSlides/notesSlide9.xml" Id="R98d31ce2b8cb47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8989ef34174934" /><Relationship Type="http://schemas.openxmlformats.org/officeDocument/2006/relationships/notesSlide" Target="/ppt/notesSlides/notesSlide10.xml" Id="Rb5855477451641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E67AF-D814-4213-94E8-C7A23A1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2929AF-ECF5-478F-963D-16F5027A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684A04-CB39-4515-9DC8-49BB2043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07EA9-FFFE-4C6F-B297-A4B42F51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SocialLab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B0495-8A9F-4A14-A256-1A9F67B4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Una red social pedagógica convertida en laboratorio completo de datos: generación sucia, ETL Spark, MongoDB, Neo4j, analítica y 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F5E72-AAB0-42CE-9361-54DE5D9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19150"/>
            <a:ext cx="3143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2E"/>
          </a:solidFill>
          <a:ln xmlns:a="http://schemas.openxmlformats.org/drawingml/2006/main" w="9525">
            <a:solidFill>
              <a:srgbClr val="455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F9D44-8144-4E7F-9AFD-CE5AD74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38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BCE9-B53B-438B-9FB9-AB39698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858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CFA4A-1EAE-4DDC-B636-122E359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BA1AF-BFB4-47F3-BFFF-16452FFC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858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7B008-29D1-4F4F-9401-568C8F9A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71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D3EA3-3AB2-476E-8B91-C8FEDE8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23A73-2412-415B-95C9-F771A16A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4519E-6927-4C4B-87AA-4BD2849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A5864-FB88-4E1E-931C-2D0EC9B7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145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C2D04-0C06-4993-88DC-0084308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11A29-5663-4019-925D-DCDC29C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5049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7A49D-D001-493A-955E-079C484C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D09F7-ACA3-47E6-A02A-0D9C1E63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D4313-DEA7-439B-9D6A-C8BD090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3852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A293F-3E97-4472-B60F-62BE9CD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4BB18-5F9D-4698-A070-B278C40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3852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44A7A-555C-4197-BF10-1A46254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71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0759B-F056-4954-8973-BA6E5033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195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Neo4j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A71FF-2114-4BEE-91E0-0732B37B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46CE43-5D4E-451C-BF8F-4B02231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576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E00D9-EC0C-4CD9-BD8D-EF3B50D4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053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Arquitectura local-first, cloud-ready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0D116-CBB5-4CA0-855F-D647A23B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FC24A-8FBD-42F5-AA85-76D2A82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80k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1B892-000C-4062-BD6E-D5E13531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C1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C1B4"/>
                </a:solidFill>
                <a:latin typeface="Aptos"/>
                <a:ea typeface="Aptos"/>
                <a:cs typeface="Aptos"/>
              </a:rPr>
              <a:t>posts simulados por seed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F55AEA-56DE-4E69-8572-141B4839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200k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364294-DB92-4D24-BC89-B297DC0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C1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C1B4"/>
                </a:solidFill>
                <a:latin typeface="Aptos"/>
                <a:ea typeface="Aptos"/>
                <a:cs typeface="Aptos"/>
              </a:rPr>
              <a:t>likes generados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1C742-C345-43F2-BCD9-4CD504E1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22D5A7-EBAB-444F-B84C-A546A316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71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C1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C1B4"/>
                </a:solidFill>
                <a:latin typeface="Aptos"/>
                <a:ea typeface="Aptos"/>
                <a:cs typeface="Aptos"/>
              </a:rPr>
              <a:t>modelos ML + recomendador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1A5628-35BF-42D1-9620-4C2A4FD9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1B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1B4"/>
                </a:solidFill>
                <a:latin typeface="Aptos"/>
                <a:ea typeface="Aptos"/>
                <a:cs typeface="Aptos"/>
              </a:rPr>
              <a:t>Fuente: análisis local del repositorio SocialLab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85E719-4F10-422F-95D8-9AA6466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82586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01296-E85B-4331-8C38-A85FE5FF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C547724-2E8C-4F86-8B77-AADA945D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087AE1C-E6E0-42EB-A543-8EB6F761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DATOS SUCIOS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F077A-3122-426D-AE6A-09D86857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El generador fabrica problemas reales antes de pedir soluciones.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850E-B228-47E6-B42D-7CBEB6D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La práctica no empieza con datos perfectos: fuerza normalización, deduplicación, limpieza semántica y control de referencias.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5F34B-0D6F-4844-A796-BD3A443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323FF-1B34-4B78-9D7B-C1F7044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398D4-F576-4FBB-B007-F5F8E07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Fechas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5FA6A-37AB-4264-85C8-96C94E84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ISO, epoch, formato US/EU y relativo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4640C-3E4D-40E0-8BBE-5BE0CCC3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DD4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E2E39-7F6A-4A7B-A4CB-684AE68F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76870-81EA-4D63-9944-B9048FA9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Texto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E7904-2691-46A3-8FD7-C350B7D7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encoding roto y campos ausentes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651F1-AA94-48ED-BF5F-7895E0A7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9D66B-619F-4BFF-B3D2-05E0BF87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7FF31-34F0-45D8-9C92-192C4D8B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Hashtags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F6107-BEDD-4D35-8A4A-251DB119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mayúsculas, #, espacios y puntos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8D48B-3B08-4CDB-BB99-2DD9DCD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DD4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4C386-3157-44AF-8D7E-7911378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EA65C-93D4-44E7-974C-6AD7C6F8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64435-3919-442F-8187-82B3E0EA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duplicados por email o username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B3646-67C1-4368-ACEA-F259C60B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7190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DB67D-FDDB-4BB6-84D5-22E1735B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7190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3D7A5-2516-45E4-9829-AAEFA88A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Relaciones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8446D-1162-4DCE-A4E8-680ED84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likes/follows huérfanos y self-follows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6D60E-13FD-4CDC-861B-D52C1E1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DD4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13127-6810-4B15-98FE-E7FF7A1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F63AA0-72C2-491A-A250-89E268D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Spam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2CE83-69C3-4DAB-BFFA-E92E269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bots y patrones de repetición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64B2D-C729-4E67-BFF9-02BBE53D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8174"/>
                </a:solidFill>
                <a:latin typeface="Aptos"/>
                <a:ea typeface="Aptos"/>
                <a:cs typeface="Aptos"/>
              </a:rPr>
              <a:t>Escala del seed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41833-E85F-450C-9D4F-3E4E25D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3.000 usuarios  |  80.000 posts  |  200.000 likes  |  50.000 follows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2CE94-A426-4361-A176-3F630EA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src/seed/generate_dirty_data.py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385F70-F897-4C33-A0AE-867283BC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17787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D8753-F2DB-4784-80BB-BDDE4107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FB0572-CCB5-4202-9793-4A87DF8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E5FAF1-03A7-493A-83A7-D70BA40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16D31-64A7-4CE9-93C1-ED968BB4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El sistema es poliglota, pero se puede arrancar entero en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DE4A4-33C9-4DD1-8A43-A6263025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04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Docker Compose levanta las piezas de servicio; Spark transforma el lago local; FastAPI une la experiencia de usuario con los almacenes analíticos.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9A7B2-14F6-4918-9B8B-DC81C3A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3"/>
          </a:solidFill>
          <a:ln xmlns:a="http://schemas.openxmlformats.org/drawingml/2006/main" w="9525">
            <a:solidFill>
              <a:srgbClr val="D5B7A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4D18A-1282-419A-B779-D3F38CFA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94AE0-E4C9-482F-88E0-356E4F2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JSON con ruido intencional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D9DF4-7380-43F1-84FF-DBAD29F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2228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E7B9C-D098-4B71-B228-50AF805D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Data lake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20A3F-70FA-41D8-9808-033B7676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B08C9-D304-4EAC-B7C0-60FBA36D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51F35-9A2B-4BF7-8078-A5FEB503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2CCCE-61BA-4537-A56A-97C0AAC9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CC792-A02C-4F08-8BB4-2358901A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2E926-CE2D-412A-82AD-C71871E4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385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5FF77-10CE-48CC-8B7D-BFFAFE9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147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8174"/>
                </a:solidFill>
                <a:latin typeface="Aptos"/>
                <a:ea typeface="Aptos"/>
                <a:cs typeface="Aptos"/>
              </a:rPr>
              <a:t>data/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BBD3F-2977-4151-A2CA-2AC899B6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695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F3"/>
          </a:solidFill>
          <a:ln xmlns:a="http://schemas.openxmlformats.org/drawingml/2006/main" w="9525">
            <a:solidFill>
              <a:srgbClr val="B9D0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E7363-9FF3-4F49-AAFD-C6154D6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Spark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8B770-95D2-4281-B010-C5E7ADFA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ETL + modelos + cargas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4F8A0-CEEC-4A29-AA51-AEF3DC8D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EF3"/>
          </a:solidFill>
          <a:ln xmlns:a="http://schemas.openxmlformats.org/drawingml/2006/main" w="9525">
            <a:solidFill>
              <a:srgbClr val="B9D0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1D1B7-08FA-474B-9EA6-D084133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1FAE6-A3D0-4C0C-8CCE-365B20D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colecciones para la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526CC-4213-482B-940C-CE2BB3AD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BDD0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3DC16-04FC-492B-9BD9-D7BC3323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8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C8A5B"/>
                </a:solidFill>
                <a:latin typeface="Aptos"/>
                <a:ea typeface="Aptos"/>
                <a:cs typeface="Aptos"/>
              </a:rPr>
              <a:t>Neo4j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A5B98-B09E-421C-9AF3-2CF9121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follows e intereses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6CABA-9B15-4F00-B8D9-9F635E4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89982-837F-44FB-B60A-1E0F7F9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69B52-307E-44ED-BDA2-84605887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EBC0D6-9CB8-41E5-847F-416ADA5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34A99-921F-48F3-A10A-5AFEA29A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95342-4D1B-4AFD-8313-A20A502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BF4497-198F-4085-ACBB-B9D7806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50B32-9EC8-48BA-A2B6-DFC8441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8AB0CE-2CE9-4D1F-AE98-565B97AA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8174"/>
                </a:solidFill>
                <a:latin typeface="Aptos"/>
                <a:ea typeface="Aptos"/>
                <a:cs typeface="Aptos"/>
              </a:rPr>
              <a:t>docker-compose: app + mongo + neo4j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27FF9-9452-4031-BDB1-DD7EA294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76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8174"/>
                </a:solidFill>
                <a:latin typeface="Aptos"/>
                <a:ea typeface="Aptos"/>
                <a:cs typeface="Aptos"/>
              </a:rPr>
              <a:t>principio: .env cambia, el código permanece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CE650-1352-47E3-BDC2-E11C6D51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docker-compose.yml y docs/ARCHITECTURE.md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104DCA-1A9B-4F71-ACED-D85AB688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95107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777DD-B6C3-4795-BBC4-03A295F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607D01-1C85-4B61-9554-95201E2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5A235E-1A20-4A73-806B-1C818ABD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8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C8A5B"/>
                </a:solidFill>
                <a:latin typeface="Aptos"/>
                <a:ea typeface="Aptos"/>
                <a:cs typeface="Aptos"/>
              </a:rPr>
              <a:t>PIPELINE SPARK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B262A-62E7-4C04-839E-AD4045A4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El aprendizaje está en la transición: de ruido operativo a evidencia consumible.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C586C-E49E-4FBA-8225-2228D7D2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Cada capa tiene un contrato claro: raw preserva la suciedad, silver normaliza, gold agrega y prepara consumo analítico.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50B6A-12DC-4985-B031-F117C6A8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8765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41CB1-1830-413F-BC81-99D52BDF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876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87CDD-FADB-4C19-AF7E-D8CEEC3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E062B-6D75-4EEF-B831-D18586C1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JSON generado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D365B-8301-441B-BFCD-BD2198E5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usuarios, posts, likes, follows con errores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9CA81-BC46-44BD-95AD-1BCA191B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8765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91F47-1D5A-4F1B-A21A-E046102C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876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32850-9665-4343-9186-F413456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C8A5B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57E49-CDE5-4975-8830-AB41787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Datos limpios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0AD31-9FCD-4357-9CFC-E52B7CFE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timestamps UTC, dedupe, hashtags normalizados, orphans fuera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6B96D-7952-466D-B639-71ADE83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8765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A9780-1F8D-43ED-A55D-E7318BE8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876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20E16-18F6-4722-8FE5-2B4E6747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446D5-E584-43FF-8AF9-0F4A393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Tablas analíticas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DC4AB-F788-4175-AB4D-409E66B2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user_stats, rankings, hashtag_trends, spam_features, community_edges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4E63A-13B0-4983-B679-2E8DC78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415EE-DAB7-44A0-B90D-53B6DFC3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D1DF1-F445-48C7-99A2-A424A8D7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530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run_pipeline.py orquesta ETL, carga a MongoDB y carga a Neo4j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5D6DA-0670-421C-8957-748F6104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530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La estructura también separa ejercicios de soluciones para Neo4j y ML.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B871A-AB34-475F-9D00-1F3F136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src/spark/run_pipeline.py, etl_silver.py, etl_gold.py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39456-3141-40BB-A17E-EE68686E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67727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0F142-C246-4447-983C-890D30C1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B95DD3-8598-42E1-A328-F578F21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F06EED-4283-4CDA-A021-88ED6421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ALMACENES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CE9E9-017A-4C92-BEDA-5483C79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Cada tecnología existe porque responde a una pregunta distinta.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9925A-26BF-4985-899A-0FB55FE3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El diseño evita una base de datos única para todo: documento, grafo y batch analítico quedan separados por tipo de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63A63-67AE-478B-B98B-DE2A923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EE71E-AA3F-435D-A149-A54F0F2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F3563-08C5-42FB-BDB2-4010EAE1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15891-105F-40C2-A6A4-6BA1A2D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servir la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E447E-C7AF-4201-8C7F-B022B88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users · posts · likes · follows · trends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23C5E-C79E-4B18-A2F7-BA2CCB2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timeline, perfil, búsqueda, contadores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60F36-AB84-4AB7-8E6C-AD83B861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E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6DF4B-6224-4BDD-AE98-86434CDC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7EE70-A1D5-4C2E-B173-B6085D5D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C8A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C8A5B"/>
                </a:solidFill>
                <a:latin typeface="Aptos"/>
                <a:ea typeface="Aptos"/>
                <a:cs typeface="Aptos"/>
              </a:rPr>
              <a:t>Neo4j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374EC-CF7B-4039-BAB1-66130B3F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4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preguntar al grafo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C7228-BBDC-4824-A9E0-E94374A4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(:User)-[:FOLLOWS]-&gt;(:User)</a:t>
            </a:r>
          </a:p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(:User)-[:INTERESTED_IN]-&gt;(:Hashtag)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CBF52-71B5-4B47-8EE2-678EF16A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comunidades, intereses compartidos, rutas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E97C3-DF9C-44AB-A94F-99C4E2D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91461-0F05-4068-99E7-723E1A9D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B86A7-0B49-4ACF-9E3B-1C581EC1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Spark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4154B-E526-4878-85E8-FC11FDB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procesar en lote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2E1F0-71A7-498A-88DF-DBF95EC4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433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raw → silver → gold</a:t>
            </a:r>
          </a:p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modelos y parquets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C821D-05E9-41D2-81B4-0115D370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limpieza, agregados, entrenamiento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885F2-EF63-4AB2-A8E0-2508F807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El resultado: el alumno ve por qué existe cada pieza, no solo cómo se instala.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A478E-5663-4D7E-8A4B-4872FF17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load_to_mongo.py, load_to_neo4j.py y rutas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35291-ED8A-4FA9-9168-0F1B9EF1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69819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C742B-C987-4CB3-A33D-D140917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1AB605-1489-4C42-B544-FF8855D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8C2B25-449C-43DD-B6C3-BC9EB147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8B71A-AF1A-4B23-847E-1BF352B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La web convierte el pipeline en una experiencia observable.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504FF-ECE1-4755-A9FC-3AC7492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No es solo un notebook: la app permite publicar, seguir, explorar, consultar grafos y ver salidas de modelos en contexto.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07054-5022-4879-ACD8-D65EAF28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667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9CFA3-7470-4655-8AF6-DA85DEA1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29380-D1FF-437C-B255-5C38090E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crear cuenta</a:t>
            </a:r>
          </a:p>
          <a:p xmlns:a="http://schemas.openxmlformats.org/drawingml/2006/main">
            <a:pPr algn="l">
              <a:defRPr sz="1350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publicar</a:t>
            </a:r>
          </a:p>
          <a:p xmlns:a="http://schemas.openxmlformats.org/drawingml/2006/main">
            <a:pPr algn="l">
              <a:defRPr sz="1350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seguir</a:t>
            </a:r>
          </a:p>
          <a:p xmlns:a="http://schemas.openxmlformats.org/drawingml/2006/main">
            <a:pPr algn="l">
              <a:defRPr sz="1350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hacer like</a:t>
            </a:r>
          </a:p>
          <a:p xmlns:a="http://schemas.openxmlformats.org/drawingml/2006/main">
            <a:pPr algn="l">
              <a:defRPr sz="1350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buscar hashtags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8A333-30A0-478E-81BB-418D5219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6098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7738C-D9B3-4B78-955B-A2A058B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EBAF6-8B0C-46C3-9B9B-57EC07B5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2E3C7-47A7-4055-ABCF-A471A1A6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242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/api/users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F2B0E-46F3-4BAD-8F3B-775F4C5A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099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E1FDF-3741-43E4-B78D-14D9B1A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86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/api/posts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85BB9-9D05-4266-961D-04204F86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F0857-83FF-4B87-9A0F-062625A8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48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/api/interactions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6DC12-B5BE-405D-9244-59A91D60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338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E26D5-D30E-4FA0-8B43-3548CD59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10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/api/analytics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D939C-EB0E-4EA7-A022-3ED63F02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C108E-1A42-4DF3-AC6C-426CFA0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/api/ml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BE98B-BEA6-415A-B55B-92F58748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667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1"/>
          </a:solidFill>
          <a:ln xmlns:a="http://schemas.openxmlformats.org/drawingml/2006/main" w="9525">
            <a:solidFill>
              <a:srgbClr val="C5D9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92A5C-CF43-456D-ABB6-F8357D58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225D6-2CC8-488E-B9D8-C130879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timeline</a:t>
            </a:r>
          </a:p>
          <a:p xmlns:a="http://schemas.openxmlformats.org/drawingml/2006/main">
            <a:pPr algn="l">
              <a:defRPr sz="135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trends</a:t>
            </a:r>
          </a:p>
          <a:p xmlns:a="http://schemas.openxmlformats.org/drawingml/2006/main">
            <a:pPr algn="l">
              <a:defRPr sz="135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panel Neo4j</a:t>
            </a:r>
          </a:p>
          <a:p xmlns:a="http://schemas.openxmlformats.org/drawingml/2006/main">
            <a:pPr algn="l">
              <a:defRPr sz="135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detector de spam</a:t>
            </a:r>
          </a:p>
          <a:p xmlns:a="http://schemas.openxmlformats.org/drawingml/2006/main">
            <a:pPr algn="l">
              <a:defRPr sz="1350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recomendaciones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D2A91-08B2-40A2-B531-EFE61D47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E01C3-E0AD-4E6A-9E21-6F003A1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9570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B4597-1244-469E-BD7E-3F560672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src/web/app.py, routes/*.py y static/js/app.js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30E75-CA89-47A8-98BE-54C02B2A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27162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C8010-C77D-4F08-8617-88F91311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2CA015-108B-4606-AEDA-4BA5EED8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2CA1C7-8395-4790-BA99-558C8D3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ML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41EA-25A4-4026-844B-6F0F469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Los modelos están diseñados como progresión de laboratorio, no como magia.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4D71F-F63E-4A81-92D2-C1135106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Los bloques se desbloquean con LAB_ML; si faltan entrenamientos, la UI degrada con errores controlados.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8C3D7-7185-4F25-BAC4-9CA2CFED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F9140-C427-4AFB-A2FE-D5A21FF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812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supervised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AB562-0918-4C40-BE56-C6CC934C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11F84-AC8F-4C47-BC55-32DFCE86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812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FEA66-6047-487B-BB68-1470FC5B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DAD9C-D061-48D5-8B0B-28942293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812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graph_ml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41690-561F-487B-8ECC-291B37CD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670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A04BA-4E06-4D9D-BC8F-FB86070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F7976-6D5F-42E6-8897-3D60AE8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476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25B5B-1F1E-40F9-B6D8-186DBD1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ECA48-6430-457C-824F-C2E66C2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spam_detector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B7B85-80B0-497D-86C3-7418BF2E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engagement_predictor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39870-6445-4F16-B6AE-16284CE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virality_classifier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55EE6-1F09-48C3-AC16-DE57377E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churn_predictor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E180E-24C3-496C-9796-4D44870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clasificar, estimar y anticipar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3F251-7615-462F-A281-6AAB8D9A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476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64C9F-B764-4D4B-957A-007FC58C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EF48D-FFB5-4E8C-A0B4-9F7A622B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48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user_clustering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2FC1B-63DD-4275-9FBD-3E399FD4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segmentar patrones de usuario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C9637-5A2C-465C-A6F7-8EB9607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2476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5A03D-554A-4A2D-91CF-D236C59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936EE-D372-469A-A739-DCF6EDAC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1F"/>
                </a:solidFill>
                <a:latin typeface="Aptos Mono"/>
                <a:ea typeface="Aptos Mono"/>
                <a:cs typeface="Aptos Mono"/>
              </a:rPr>
              <a:t>follow_recommender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6F803-D7B5-4A62-96D6-7F08939C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0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proponer conexiones por señal social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A28158-793B-4A19-8D38-11F57607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847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Salida común: parquets de predicción + metrics.json + endpoints /api/analytics/ml/*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BFBB5-76B6-4B4D-BBD6-F1614E8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src/spark/models/run_all.py y src/web/routes/ml.py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E5CDE-BE64-43FE-97BF-034F13E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58761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E70C7-633A-4913-A2CB-E0D52D8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84CD1E-6DA1-44BC-A36B-F67E9FC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2BE2B1-B78C-4A8F-877E-FF44CA75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MADUREZ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B91B0-A512-4604-9F82-FCD9E1E1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La integración está lograda; la siguiente frontera es la disciplina operativa.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EAE94-73A6-4B0D-A482-27CFE3D9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SocialLab ya cuenta una historia completa de datos. Lo que todavía falta es reducir fragilidad y hacer verificable cada contrato.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F33FE-C402-4084-9864-EC3F73BA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A"/>
          </a:solidFill>
          <a:ln xmlns:a="http://schemas.openxmlformats.org/drawingml/2006/main" w="9525">
            <a:solidFill>
              <a:srgbClr val="C8D8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7B56A-03D3-4323-BD0A-15FFECF8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DE0A7-8944-4A9D-83C2-3E0C22E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8A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C8A5B"/>
                </a:solidFill>
                <a:latin typeface="Aptos"/>
                <a:ea typeface="Aptos"/>
                <a:cs typeface="Aptos"/>
              </a:rPr>
              <a:t>Fortalezas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39F83-63D3-41BD-BE6B-1FA4CB40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narrativa de datos muy clara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stack local completo con Docker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ETL Spark separado por capas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laboratorios con scaffolds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docs de migración 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0FBB0-52CA-4B1E-857D-DD2B135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ABE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FB98A-4B54-4A11-8336-D3A93BEB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27BFB-B06D-4079-893E-57512E0F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Riesgos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A2E72-23E6-4261-BC3F-D2EFEA08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sin tests ejecutables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auth solo por localStorage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CORS abierto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errores Neo4j silenciados</a:t>
            </a:r>
          </a:p>
          <a:p xmlns:a="http://schemas.openxmlformats.org/drawingml/2006/main">
            <a:pPr algn="l">
              <a:defRPr sz="1425" b="0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1F"/>
                </a:solidFill>
                <a:latin typeface="Aptos"/>
                <a:ea typeface="Aptos"/>
                <a:cs typeface="Aptos"/>
              </a:rPr>
              <a:t>• frontend monolítico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CB292-F08B-4CDF-BAF6-CDB0C037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5D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65D3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98EBA-C39D-4BB4-A60F-A072FD75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626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tests recogidos por pytest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37FA7-7B5B-4A2D-BCB8-300276F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67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9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F9F"/>
                </a:solidFill>
                <a:latin typeface="Aptos Display"/>
                <a:ea typeface="Aptos Display"/>
                <a:cs typeface="Aptos Display"/>
              </a:rPr>
              <a:t>1.577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17A1F-2D8C-4CA8-96D7-5A0F3BA3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6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líneas en app.js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93066-B69E-4F80-896B-E98BE5C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C8A5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C8A5B"/>
                </a:solidFill>
                <a:latin typeface="Aptos Display"/>
                <a:ea typeface="Aptos Display"/>
                <a:cs typeface="Aptos Display"/>
              </a:rPr>
              <a:t>58M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B8B09-A23C-4216-80F8-32A5048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96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data local generada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7C431-8415-433C-998F-F0C6739D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inspección local, wc/du y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4C128-6B71-4E72-B684-60F4178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59630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3D449-E60C-49EE-A7D0-2931D59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DE5CA3-97EA-4A15-967B-5F16DEA2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28CABB-2708-43AA-A946-B4EBB422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SIGUIENTE VERSIÓN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F9D08-AB1E-4FE3-A5C9-DF95EFF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rPr>
              <a:t>La mejora ideal endurece los bordes sin perder claridad didáctica.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86C3E-61F3-4CA0-B550-A4FF750A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El roadmap no necesita rehacer el proyecto: basta con convertir las decisiones implícitas en contratos probados y documentados.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EDCBC-B3E4-4CD9-901C-0DAA8B6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095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73DC0-7A34-48D3-A33E-E01BD0F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B95A1-4C29-4125-AEA9-3D06C90C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1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BEA04-5F5A-4EE3-91F0-6D9359F5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Entrada clara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69E39-1798-4792-BDB8-A7A7ED4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README, comandos, flujo de demo y requisitos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B3197-5884-40C7-A2C5-1C1E657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BAA40-FF29-4BE7-81F0-86FC2166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2095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849BB-3C71-4336-87C6-4D766590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41640-6727-4498-8FAC-D5D74444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71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3FBA9-17A7-4C40-A740-60F07E41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8A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C8A5B"/>
                </a:solidFill>
                <a:latin typeface="Aptos"/>
                <a:ea typeface="Aptos"/>
                <a:cs typeface="Aptos"/>
              </a:rPr>
              <a:t>Contratos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F18BC-3552-4C03-B73B-DB59CAA9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148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tests API, pruebas de ETL pequeñas, fixtures de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6A74E-E955-4613-A9B1-3172E8D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9F56A-ED8E-4A5D-871F-7E62D10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95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84B23-3D8A-4A21-852D-E9415D2B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C9031-C5DF-4708-A1C5-92E67DF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71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0C357-DBBA-479F-9207-64A5454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2253F-8F5A-4C9B-BBB9-CDE65D9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logging, errores visibles, CORS configurable, dependencias completas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519CB-3214-419E-AA98-F4413151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E71D5-190D-48D5-B6DA-733CE3B5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2095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0A127-5641-440A-B499-506B7767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213DA-D6FC-431F-B7B3-D3E6595F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71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7FA71-E85B-4464-AE1E-A0118995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D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65D3A"/>
                </a:solidFill>
                <a:latin typeface="Aptos"/>
                <a:ea typeface="Aptos"/>
                <a:cs typeface="Aptos"/>
              </a:rPr>
              <a:t>Escala limpia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BFE73-A027-44BD-A03C-2B1F3AC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frontend modular, limpieza de artefactos, CI básico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41D62C-B742-4ABD-908E-6848B61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CD6AAE-B53C-47F5-89C1-FB1436DB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05450"/>
            <a:ext cx="762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Objetivo: conservar la historia docente, pero hacer que cada demo sea repetible.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9C999-8394-47FB-BF7C-7E2F61D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8174"/>
                </a:solidFill>
                <a:latin typeface="Aptos"/>
                <a:ea typeface="Aptos"/>
                <a:cs typeface="Aptos"/>
              </a:rPr>
              <a:t>Fuente: análisis de arquitectura, dependencias y estado de pruebas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638EA-8200-43E6-8AC1-BB64F0B7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30435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BC46C-B151-4020-8C2B-1A3CDDE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0BFA86-B3C3-41AB-A0B9-AB47FDF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0E0237-C66D-43E3-ACBC-A2551C60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64F76-6B7D-415A-A6B5-7BFDA080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47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SocialLab es una clase de arquitectura de datos en miniatura.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82ABF-9B12-4D0E-8807-F700A0B4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609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DE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DECF"/>
                </a:solidFill>
                <a:latin typeface="Aptos"/>
                <a:ea typeface="Aptos"/>
                <a:cs typeface="Aptos"/>
              </a:rPr>
              <a:t>Su valor no está en imitar una red social real, sino en hacer visible el camino completo entre datos imperfectos, procesamiento, serving, grafo y modelos.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65568-7EE6-4045-A01E-2F05461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4900"/>
            <a:ext cx="3143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2E"/>
          </a:solidFill>
          <a:ln xmlns:a="http://schemas.openxmlformats.org/drawingml/2006/main" w="9525">
            <a:solidFill>
              <a:srgbClr val="4557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9ABC1-89E9-4A53-9376-2521016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92EF1-D0AB-4272-B43F-396975C7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9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sucios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4ADCD-2CB1-46D7-87C5-8F0966E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A55B4-CF6D-4C61-82CD-A51E3094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71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Spark ETL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3E9C0-46E2-4B83-9622-1502254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DE17-36FF-4932-8B23-E958816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33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Mongo + Neo4j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66881-1EBA-4A17-A862-60838F1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FB202-79B5-497C-97B1-3BE150B5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95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1F"/>
                </a:solidFill>
                <a:latin typeface="Aptos"/>
                <a:ea typeface="Aptos"/>
                <a:cs typeface="Aptos"/>
              </a:rPr>
              <a:t>ML + analítica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DB45D-A29F-4F84-B546-65429EB9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288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8C5FC-9910-4B02-A41E-75BFE46C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A8348-6035-41E0-8809-911C7F53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78C6A-4CBD-4D2B-B9C3-24A32FD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D3E65-2A5D-4733-A377-D8DEBC69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Mensaje para presentar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7FE90-25FA-4932-A24D-A11FEB5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71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7F2E8"/>
                </a:solidFill>
                <a:latin typeface="Aptos"/>
                <a:ea typeface="Aptos"/>
                <a:cs typeface="Aptos"/>
              </a:rPr>
              <a:t>“Partimos de una red social deliberadamente desordenada y construimos todo el ciclo de datos: limpieza, agregación, visualización, grafo y modelos.”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B4094-C53B-479A-8764-3DCAAE09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1B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1B4"/>
                </a:solidFill>
                <a:latin typeface="Aptos"/>
                <a:ea typeface="Aptos"/>
                <a:cs typeface="Aptos"/>
              </a:rPr>
              <a:t>Fuente: síntesis del análisis local de SocialLab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16741-8F16-4CC9-B421-3BBFE415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6899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2026-05-05T20:05:05.9640000Z</dcterms:created>
  <dcterms:modified xsi:type="dcterms:W3CDTF">2026-05-05T20:05:05.9640000Z</dcterms:modified>
</coreProperties>
</file>